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sldIdLst>
    <p:sldId id="269" r:id="rId5"/>
    <p:sldId id="273" r:id="rId6"/>
    <p:sldId id="271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1833"/>
    <a:srgbClr val="E31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09"/>
  </p:normalViewPr>
  <p:slideViewPr>
    <p:cSldViewPr snapToGrid="0">
      <p:cViewPr>
        <p:scale>
          <a:sx n="113" d="100"/>
          <a:sy n="113" d="100"/>
        </p:scale>
        <p:origin x="124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39706-6231-4C0B-B5C1-E956443D476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A57F2-53BA-4B46-8950-BAB546FE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2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A57F2-53BA-4B46-8950-BAB546FE72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13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396FD-9365-A56A-1CE5-4AF62F19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CCACD-1373-CFA2-72E1-4F5502795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A61E1-27D1-48B7-6B80-664487C0B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7C2AE-8A2D-F20F-B85D-ECC833F44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A57F2-53BA-4B46-8950-BAB546FE72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8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80EF37F-F95F-50C2-0A5D-BADA40C3A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US"/>
          </a:p>
        </p:txBody>
      </p:sp>
      <p:pic>
        <p:nvPicPr>
          <p:cNvPr id="8" name="Picture 7" descr="A picture containing text, tree, outdoor, sign&#10;&#10;Description automatically generated">
            <a:extLst>
              <a:ext uri="{FF2B5EF4-FFF2-40B4-BE49-F238E27FC236}">
                <a16:creationId xmlns:a16="http://schemas.microsoft.com/office/drawing/2014/main" id="{FEFF9E5B-A854-B15E-6554-4CC8A785AD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0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9C236F-E6EB-E005-2CD5-1A84BE02A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EB594-3B45-5200-80EA-56164D420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743447"/>
            <a:ext cx="5825986" cy="3692028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5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82238-614C-600D-2645-82E1CE0DD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9434" y="4509964"/>
            <a:ext cx="3423057" cy="165576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600"/>
              </a:spcAft>
              <a:buNone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434A7-0672-B3E9-49F7-D7F2CF21B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en-US"/>
              <a:t>11/6/2024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6D370-44AD-2B01-3859-0E41474B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188F9-A3B8-3762-A3D9-6F64A3F0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fld id="{84FB43ED-9CEF-4A85-9C89-E339A05FFE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7983136-EB55-16CF-44A3-65E919C2A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867B99-03D8-E44B-BEC4-7599FBA861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5437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BA63-A7FC-E13E-852D-D59CF82A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</p:spPr>
        <p:txBody>
          <a:bodyPr>
            <a:no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569A9-D1FA-285C-A0C1-4D23719EB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D0D2A-4104-6C4C-F45A-34B5D351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27064"/>
            <a:ext cx="4114800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4DF53-041B-3E4C-FCE7-0466F948BB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F9EF79-B6D4-9F52-7394-26AE8E6D174C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5B2D7AF-AB80-1166-B05A-EE8010DAB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7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11/6/2024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F3863A6-0AA5-93DF-CA24-FC40FBDD45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F819793-337D-68F5-DA95-56881AC4F8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0FC0CD7-A996-E72E-4870-C9FCC88F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7064"/>
            <a:ext cx="2743200" cy="365125"/>
          </a:xfrm>
        </p:spPr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45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AF25-619E-2A2A-145D-901FC226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32772"/>
            <a:ext cx="10515600" cy="285273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74659-0631-3F9D-019E-EF51EED76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12497"/>
            <a:ext cx="10515600" cy="1500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3BA99-3855-F84D-5267-90DF95C1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57F62-7B0A-3885-5271-4102776E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0;p15">
            <a:extLst>
              <a:ext uri="{FF2B5EF4-FFF2-40B4-BE49-F238E27FC236}">
                <a16:creationId xmlns:a16="http://schemas.microsoft.com/office/drawing/2014/main" id="{4BD105DA-3C71-D7E2-E576-DC463CD5FC4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99908" y="6116638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1;p15">
            <a:extLst>
              <a:ext uri="{FF2B5EF4-FFF2-40B4-BE49-F238E27FC236}">
                <a16:creationId xmlns:a16="http://schemas.microsoft.com/office/drawing/2014/main" id="{A447CEC5-5B9F-ACD9-C102-A38707996BEA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3458" y="6225612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2;p15">
            <a:extLst>
              <a:ext uri="{FF2B5EF4-FFF2-40B4-BE49-F238E27FC236}">
                <a16:creationId xmlns:a16="http://schemas.microsoft.com/office/drawing/2014/main" id="{A41D13C7-51B3-C272-9C5B-A1C694A54E54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54824" y="6654754"/>
            <a:ext cx="325186" cy="325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8" descr="Text&#10;&#10;Description automatically generated">
            <a:extLst>
              <a:ext uri="{FF2B5EF4-FFF2-40B4-BE49-F238E27FC236}">
                <a16:creationId xmlns:a16="http://schemas.microsoft.com/office/drawing/2014/main" id="{823F9981-1AE3-F678-01C3-803FA9C9C37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08543" y="6187346"/>
            <a:ext cx="2395280" cy="552757"/>
          </a:xfrm>
          <a:prstGeom prst="rect">
            <a:avLst/>
          </a:prstGeom>
        </p:spPr>
      </p:pic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3D188F-1983-B5EF-F570-1D9C9524B9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B588B9-BB08-1211-AB41-3446B0D211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1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F3AE-7130-42DA-247B-F1B12E19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141B3-4A90-16DF-7669-B3FCD9A5B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0F8F5-28AA-CC4D-C7F9-12A9A3885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4C8FD-B7D4-ECB1-4237-CC13839BD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71E46-2263-65ED-4A55-6B26850F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D8831-0FE4-F273-6958-98953CBBB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4CB5FA-85E1-4CED-EBCE-1CDD77416B7F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8F9F4F-A6F8-B889-18C8-E623C37C0C4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227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11/6/2024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86E889E-764A-9539-6B26-9979593FED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1995AB-B500-631F-231B-619EC722D1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5B3A-7896-678A-3147-155703A4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0515600" cy="1325563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E8CA7-7BB6-8BDE-3801-8D3FF023C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403307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06E28-5CC5-ADD4-AE61-F05181445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04962"/>
            <a:ext cx="5180008" cy="4051387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3F9A01-59FB-CCBB-25E0-65D8172A9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403307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1A6EB-3BA1-733D-8AA6-244CC2AB2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0508" y="2329227"/>
            <a:ext cx="5391673" cy="4051387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065F2F-62FB-D25F-8EB8-089993C1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11/6/2024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EF592F-4121-F863-CAB3-78E263E98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C04A7-5EB0-5E29-7FE9-D1355FCC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A92A58-3515-8F2B-0588-357A63FFC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E3DFFC-09E6-385F-986E-88594D556F2A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F830917-3C36-1A12-F813-9886669B6F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43ADE93-E0BD-1B71-813D-AD687A830A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99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6337-11F3-6C56-48B7-0065FB7D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020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54E87-97DF-5CF2-4F3F-D6C06018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27064"/>
            <a:ext cx="2743200" cy="365125"/>
          </a:xfrm>
        </p:spPr>
        <p:txBody>
          <a:bodyPr/>
          <a:lstStyle/>
          <a:p>
            <a:r>
              <a:rPr lang="en-US"/>
              <a:t>11/6/2024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47C9A-CCCF-AE3E-B1C6-6B39B3857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24" y="6227064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55B30-A5DA-7423-7D27-B0FCFA1D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227064"/>
            <a:ext cx="2743200" cy="365125"/>
          </a:xfrm>
        </p:spPr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FC8BCD7-AD65-5D0E-FD0E-68741C29E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99" y="1187468"/>
            <a:ext cx="11124355" cy="5137512"/>
          </a:xfrm>
        </p:spPr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D6847-DD41-E00A-9655-87FD7DC100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F50781-B847-672F-7A97-3DAC1127A451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CF2B83E-027D-ADB8-C356-2E8A191F47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8E8DFE9-1AF7-1201-9019-07A483DD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04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C2FB61-CB40-E173-4D56-E5D2BA8C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11/6/2024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C41D5-9549-5E7D-DE4C-4DAC44C4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8FB6-EF70-E596-C7F3-3EE89A43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F287AA3-0DCD-93CA-EE2B-C8775D94AF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80680B9-B1DF-219A-C56B-CA9D37A976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8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76C2-CC21-EFFE-7F29-ED90432C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990D-9E91-D107-7479-7C352C65E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2AE07-E483-ACFC-8D4A-0C6091159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0FF0F-A27C-033D-D870-248C91A6C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11/6/2024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A774D-AA3E-011F-4BD5-B560EF8B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CBED0-3917-3D28-D479-80866675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5B6A66-87DB-0A3B-CBED-FBCE9612AF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1A4A79-0F7C-5C9E-B56F-3062C027D282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37FB353-0FD5-98F2-ADF2-ABD0E8782C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39800AC-DF25-3F53-DFF3-03D3CC6447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27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5429-BB35-443A-F70A-1A1954CB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02943-FC98-17D8-1EC2-397B8CDFE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F60E0-CAF2-6A81-A4BD-26B85AFCF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57E3B-BD88-B402-A025-0B658750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11/6/2024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303FA-55D1-2045-2B58-3940AB3C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A8072-447D-5CA0-76D9-CDBCB258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712BD-FFD5-2470-9449-662042363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11FB68-5788-40BE-E90D-FA5521E851FD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2B485B3-9197-4C20-8314-055726BFA2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5FEFF04-975C-D011-92EB-EE3231776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72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0E64-6E8C-A1C4-BD12-63007F56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9F518-3CDF-F4B2-960E-5A715DD8F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FB63D-8D79-B81E-B086-752F1B12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11/6/2024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F41EB-F5A8-5D2A-F360-70670BAD8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C9A4C-A7BC-594E-93BD-06C050A0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994D3-FDD2-9553-8863-EB63A091FA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07F317-1A01-2736-8ED5-DE8500F4EA0C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62A83CE-A6FC-033A-2784-6D860467A2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F13E44-B63C-9D05-04DF-08702ED3E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9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BE9AA0-C83C-6911-E3AA-E68A0E427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80B4A-97DE-8A2A-FF4B-66F574DDB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76823-7346-9FFC-EEB9-D4E2D0D1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11/6/2024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E80E4-B354-9B1A-D3BF-4D4A372D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3780B-BC31-8C07-83F2-92AD5142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735EE6-B9CF-2F6A-B210-E6D7B2B4F8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2343479" y="3664758"/>
            <a:ext cx="5086995" cy="11891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482551-0EB6-55E1-C3CC-6EE35DDA1164}"/>
              </a:ext>
            </a:extLst>
          </p:cNvPr>
          <p:cNvCxnSpPr>
            <a:cxnSpLocks/>
          </p:cNvCxnSpPr>
          <p:nvPr userDrawn="1"/>
        </p:nvCxnSpPr>
        <p:spPr>
          <a:xfrm>
            <a:off x="294841" y="1130202"/>
            <a:ext cx="0" cy="513751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3E08B84-59C7-D651-470A-8BD2BBDB2E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585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D6056B0-199A-7820-36AB-AB87D5D0B6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6648450"/>
            <a:ext cx="12192000" cy="20955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8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E9F13-A10B-92D9-6EBF-3374E03A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48FA4-00CC-3E99-EB65-0510E5A8A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42861-7EF2-9720-E659-1F70C2C41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7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11/6/2024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B4B10-BFAF-E9BF-A67A-DD751FEDD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2706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EAFA8-AAD1-3B3E-67CF-924E81ED3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270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B43ED-9CEF-4A85-9C89-E339A05FF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4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5AD4-36DE-AB6A-B0DE-720DE9D4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i="0" dirty="0">
                <a:effectLst/>
                <a:latin typeface="Arial" panose="020B0604020202020204" pitchFamily="34" charset="0"/>
              </a:rPr>
              <a:t>Conflict or Commentary? </a:t>
            </a:r>
            <a:br>
              <a:rPr lang="en-US" sz="4400" i="0" dirty="0">
                <a:effectLst/>
                <a:latin typeface="Arial" panose="020B0604020202020204" pitchFamily="34" charset="0"/>
              </a:rPr>
            </a:br>
            <a:r>
              <a:rPr lang="en-US" sz="4400" i="0" dirty="0">
                <a:effectLst/>
                <a:latin typeface="Arial" panose="020B0604020202020204" pitchFamily="34" charset="0"/>
              </a:rPr>
              <a:t>Comparing Nigerian News Coverage to Boko Haram Conflict Intensity</a:t>
            </a:r>
            <a:endParaRPr lang="en-US" sz="1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122C2-8CF5-5156-3E81-8AB1F3B1D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12293"/>
            <a:ext cx="10515600" cy="1500187"/>
          </a:xfrm>
        </p:spPr>
        <p:txBody>
          <a:bodyPr/>
          <a:lstStyle/>
          <a:p>
            <a:r>
              <a:rPr lang="en-US" dirty="0"/>
              <a:t>Zach Einolf   |  SURV727 Final Project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49430-0F4A-7530-5FEE-24036AFD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D2D17-52B4-F6FA-D03A-90E5F9506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86" y="3941769"/>
            <a:ext cx="9837627" cy="1315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A70C68-F5A4-2B3D-EA6D-6827F57ACC8C}"/>
              </a:ext>
            </a:extLst>
          </p:cNvPr>
          <p:cNvSpPr/>
          <p:nvPr/>
        </p:nvSpPr>
        <p:spPr>
          <a:xfrm>
            <a:off x="178130" y="6080166"/>
            <a:ext cx="3016332" cy="777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29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D315F-3BAE-8B54-DBB2-895F04F2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030"/>
            <a:ext cx="10515600" cy="765958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6FF5C-3CCF-5E27-607F-8D4982028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23160"/>
            <a:ext cx="5119113" cy="3087584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LatoWeb"/>
              </a:rPr>
              <a:t>Question: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LatoWeb"/>
              </a:rPr>
              <a:t>Does the tone and sentiment of Nigerian news reporting on Boko Haram-orchestrated terrorist attacks align with the actual intensity of said events?</a:t>
            </a:r>
          </a:p>
          <a:p>
            <a:pPr lvl="1"/>
            <a:endParaRPr lang="en-US" b="0" i="0" dirty="0">
              <a:solidFill>
                <a:srgbClr val="000000"/>
              </a:solidFill>
              <a:effectLst/>
              <a:latin typeface="LatoWeb"/>
            </a:endParaRPr>
          </a:p>
          <a:p>
            <a:r>
              <a:rPr lang="en-US" dirty="0"/>
              <a:t>Data: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LatoWeb"/>
              </a:rPr>
              <a:t>Armed Conflict Location &amp; Event Data (ACLED) project API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LatoWeb"/>
              </a:rPr>
              <a:t>Text data scraped from TheInformant24/7, Mega News, and </a:t>
            </a:r>
            <a:r>
              <a:rPr lang="en-US" dirty="0" err="1">
                <a:solidFill>
                  <a:srgbClr val="000000"/>
                </a:solidFill>
                <a:latin typeface="LatoWeb"/>
              </a:rPr>
              <a:t>TheNewsHunter</a:t>
            </a:r>
            <a:r>
              <a:rPr lang="en-US" dirty="0">
                <a:solidFill>
                  <a:srgbClr val="000000"/>
                </a:solidFill>
                <a:latin typeface="LatoWeb"/>
              </a:rPr>
              <a:t> Blog</a:t>
            </a:r>
            <a:endParaRPr lang="en-US" b="0" i="0" dirty="0">
              <a:solidFill>
                <a:srgbClr val="000000"/>
              </a:solidFill>
              <a:effectLst/>
              <a:latin typeface="LatoWeb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D9B73-D72C-DCC4-8708-BDE07F16A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938151"/>
            <a:ext cx="5418117" cy="5238812"/>
          </a:xfrm>
        </p:spPr>
        <p:txBody>
          <a:bodyPr/>
          <a:lstStyle/>
          <a:p>
            <a:pPr lvl="1"/>
            <a:endParaRPr lang="en-US" dirty="0">
              <a:solidFill>
                <a:srgbClr val="000000"/>
              </a:solidFill>
              <a:latin typeface="LatoWeb"/>
            </a:endParaRPr>
          </a:p>
          <a:p>
            <a:pPr lvl="1"/>
            <a:endParaRPr lang="en-US" dirty="0">
              <a:solidFill>
                <a:srgbClr val="000000"/>
              </a:solidFill>
              <a:latin typeface="LatoWeb"/>
            </a:endParaRPr>
          </a:p>
          <a:p>
            <a:pPr lvl="1"/>
            <a:endParaRPr lang="en-US" dirty="0">
              <a:solidFill>
                <a:srgbClr val="000000"/>
              </a:solidFill>
              <a:latin typeface="LatoWeb"/>
            </a:endParaRPr>
          </a:p>
          <a:p>
            <a:pPr lvl="1"/>
            <a:endParaRPr lang="en-US" dirty="0">
              <a:solidFill>
                <a:srgbClr val="000000"/>
              </a:solidFill>
              <a:latin typeface="LatoWeb"/>
            </a:endParaRPr>
          </a:p>
          <a:p>
            <a:pPr lvl="1"/>
            <a:endParaRPr lang="en-US" dirty="0">
              <a:solidFill>
                <a:srgbClr val="000000"/>
              </a:solidFill>
              <a:latin typeface="LatoWeb"/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  <a:latin typeface="LatoWeb"/>
            </a:endParaRPr>
          </a:p>
          <a:p>
            <a:endParaRPr lang="en-US" dirty="0">
              <a:solidFill>
                <a:srgbClr val="000000"/>
              </a:solidFill>
              <a:latin typeface="LatoWeb"/>
            </a:endParaRPr>
          </a:p>
          <a:p>
            <a:r>
              <a:rPr lang="en-US" dirty="0">
                <a:solidFill>
                  <a:srgbClr val="000000"/>
                </a:solidFill>
                <a:latin typeface="LatoWeb"/>
              </a:rPr>
              <a:t>Analysis: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LatoWeb"/>
              </a:rPr>
              <a:t>Sentiment Analysis (</a:t>
            </a:r>
            <a:r>
              <a:rPr lang="en-US" dirty="0" err="1">
                <a:solidFill>
                  <a:srgbClr val="000000"/>
                </a:solidFill>
                <a:latin typeface="LatoWeb"/>
              </a:rPr>
              <a:t>huggingface</a:t>
            </a:r>
            <a:r>
              <a:rPr lang="en-US" dirty="0">
                <a:solidFill>
                  <a:srgbClr val="000000"/>
                </a:solidFill>
                <a:latin typeface="LatoWeb"/>
              </a:rPr>
              <a:t>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LatoWeb"/>
              </a:rPr>
              <a:t>Times-series plots &amp; visualizations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LatoWeb"/>
              </a:rPr>
              <a:t>Analysis of conflict intensity/fatalities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477E7-F4EA-9C1E-EB7A-8A84B942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2</a:t>
            </a:fld>
            <a:endParaRPr lang="en-US" dirty="0"/>
          </a:p>
        </p:txBody>
      </p:sp>
      <p:pic>
        <p:nvPicPr>
          <p:cNvPr id="12" name="Picture 11" descr="A group of people in military uniforms holding guns&#10;&#10;Description automatically generated with low confidence">
            <a:extLst>
              <a:ext uri="{FF2B5EF4-FFF2-40B4-BE49-F238E27FC236}">
                <a16:creationId xmlns:a16="http://schemas.microsoft.com/office/drawing/2014/main" id="{E039AD17-4D21-7857-DA6E-B8D76A3DE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1037"/>
            <a:ext cx="5633003" cy="308758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0F858564-C65D-C642-210F-DD73EFAFC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992" y="2578762"/>
            <a:ext cx="3679400" cy="139220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CC202D-648A-A28D-F861-BB1BE17C1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-3319938" y="3319938"/>
            <a:ext cx="6963362" cy="3234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1BDAA3-94E1-7CC2-DEC8-D74B0D478A82}"/>
              </a:ext>
            </a:extLst>
          </p:cNvPr>
          <p:cNvSpPr txBox="1"/>
          <p:nvPr/>
        </p:nvSpPr>
        <p:spPr>
          <a:xfrm>
            <a:off x="6172198" y="3756746"/>
            <a:ext cx="40598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LatoWeb"/>
              </a:rPr>
              <a:t>Source: </a:t>
            </a:r>
            <a:r>
              <a:rPr lang="en-US" sz="1100" dirty="0" err="1">
                <a:solidFill>
                  <a:srgbClr val="000000"/>
                </a:solidFill>
                <a:latin typeface="LatoWeb"/>
              </a:rPr>
              <a:t>TheNewsHunter</a:t>
            </a:r>
            <a:r>
              <a:rPr lang="en-US" sz="1100" dirty="0">
                <a:solidFill>
                  <a:srgbClr val="000000"/>
                </a:solidFill>
                <a:latin typeface="LatoWeb"/>
              </a:rPr>
              <a:t> Blog</a:t>
            </a:r>
            <a:endParaRPr lang="en-US" sz="1100" b="0" i="0" dirty="0">
              <a:solidFill>
                <a:srgbClr val="000000"/>
              </a:solidFill>
              <a:effectLst/>
              <a:latin typeface="LatoWeb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17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0C25-71E1-C6A1-4541-DD8472B6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44C95-E255-E324-CBCF-8503DBA7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3</a:t>
            </a:fld>
            <a:endParaRPr lang="en-US"/>
          </a:p>
        </p:txBody>
      </p:sp>
      <p:pic>
        <p:nvPicPr>
          <p:cNvPr id="19" name="Content Placeholder 18" descr="Chart, histogram&#10;&#10;Description automatically generated">
            <a:extLst>
              <a:ext uri="{FF2B5EF4-FFF2-40B4-BE49-F238E27FC236}">
                <a16:creationId xmlns:a16="http://schemas.microsoft.com/office/drawing/2014/main" id="{4E522E58-A791-2350-C015-5F32951964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64" y="1325563"/>
            <a:ext cx="5521036" cy="4776994"/>
          </a:xfr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F7E121-9F85-1C26-B057-65B9D1FF6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-3323114" y="3065295"/>
            <a:ext cx="6963362" cy="323486"/>
          </a:xfrm>
          <a:prstGeom prst="rect">
            <a:avLst/>
          </a:prstGeom>
        </p:spPr>
      </p:pic>
      <p:pic>
        <p:nvPicPr>
          <p:cNvPr id="24" name="Content Placeholder 23" descr="Chart, histogram&#10;&#10;Description automatically generated">
            <a:extLst>
              <a:ext uri="{FF2B5EF4-FFF2-40B4-BE49-F238E27FC236}">
                <a16:creationId xmlns:a16="http://schemas.microsoft.com/office/drawing/2014/main" id="{ABD91F04-B1F8-7339-4A54-C9B039178E6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255" y="1325563"/>
            <a:ext cx="5727541" cy="4776994"/>
          </a:xfrm>
        </p:spPr>
      </p:pic>
    </p:spTree>
    <p:extLst>
      <p:ext uri="{BB962C8B-B14F-4D97-AF65-F5344CB8AC3E}">
        <p14:creationId xmlns:p14="http://schemas.microsoft.com/office/powerpoint/2010/main" val="106324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89A1-7A44-8D42-A726-D0420A5E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F195-1E82-D236-5BA9-2A0CBCD9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0311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1DDF96-A085-B926-81D0-DCACB0CFD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3ED-9CEF-4A85-9C89-E339A05FFEC2}" type="slidenum">
              <a:rPr lang="en-US" smtClean="0"/>
              <a:t>4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C2E6CF7-AFA4-4F19-3DB2-AACB76E5F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-3327528" y="3267257"/>
            <a:ext cx="6963362" cy="323486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AD4926DB-0A2B-5F90-314A-B8F68E938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755" y="940862"/>
            <a:ext cx="9358489" cy="591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UMD Colors">
      <a:dk1>
        <a:srgbClr val="000000"/>
      </a:dk1>
      <a:lt1>
        <a:srgbClr val="FFFFFF"/>
      </a:lt1>
      <a:dk2>
        <a:srgbClr val="454545"/>
      </a:dk2>
      <a:lt2>
        <a:srgbClr val="E6E6E6"/>
      </a:lt2>
      <a:accent1>
        <a:srgbClr val="E21833"/>
      </a:accent1>
      <a:accent2>
        <a:srgbClr val="FFD200"/>
      </a:accent2>
      <a:accent3>
        <a:srgbClr val="AD7231"/>
      </a:accent3>
      <a:accent4>
        <a:srgbClr val="084887"/>
      </a:accent4>
      <a:accent5>
        <a:srgbClr val="3EC300"/>
      </a:accent5>
      <a:accent6>
        <a:srgbClr val="00A6FB"/>
      </a:accent6>
      <a:hlink>
        <a:srgbClr val="00A6FB"/>
      </a:hlink>
      <a:folHlink>
        <a:srgbClr val="78558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SkillsRequired xmlns="50cc1334-7839-47d4-adba-ba353eade808" xsi:nil="true"/>
    <DateandTime xmlns="50cc1334-7839-47d4-adba-ba353eade808" xsi:nil="true"/>
    <Sponsor_x002f_Client xmlns="50cc1334-7839-47d4-adba-ba353eade808" xsi:nil="true"/>
    <AssignmentStatus xmlns="50cc1334-7839-47d4-adba-ba353eade808" xsi:nil="true"/>
    <ClearanceLevelRequired xmlns="50cc1334-7839-47d4-adba-ba353eade808" xsi:nil="true"/>
    <AssignmentTitle xmlns="50cc1334-7839-47d4-adba-ba353eade808" xsi:nil="true"/>
    <PoPEndData xmlns="50cc1334-7839-47d4-adba-ba353eade808" xsi:nil="true"/>
    <AssignmentDescription xmlns="50cc1334-7839-47d4-adba-ba353eade808" xsi:nil="true"/>
    <Allocation_x0025_ xmlns="50cc1334-7839-47d4-adba-ba353eade808" xsi:nil="true"/>
    <lcf76f155ced4ddcb4097134ff3c332f xmlns="50cc1334-7839-47d4-adba-ba353eade808">
      <Terms xmlns="http://schemas.microsoft.com/office/infopath/2007/PartnerControls"/>
    </lcf76f155ced4ddcb4097134ff3c332f>
    <TaxCatchAll xmlns="ac21690e-93b3-4056-bbf5-722935a22e5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FA2F524F83724ABC926BDEA64A23C6" ma:contentTypeVersion="25" ma:contentTypeDescription="Create a new document." ma:contentTypeScope="" ma:versionID="7e0531abef12a7980f266a3643e93f3e">
  <xsd:schema xmlns:xsd="http://www.w3.org/2001/XMLSchema" xmlns:xs="http://www.w3.org/2001/XMLSchema" xmlns:p="http://schemas.microsoft.com/office/2006/metadata/properties" xmlns:ns2="50cc1334-7839-47d4-adba-ba353eade808" xmlns:ns3="ac21690e-93b3-4056-bbf5-722935a22e55" targetNamespace="http://schemas.microsoft.com/office/2006/metadata/properties" ma:root="true" ma:fieldsID="801cbb9d04445ddc5d733ee6d8d89360" ns2:_="" ns3:_="">
    <xsd:import namespace="50cc1334-7839-47d4-adba-ba353eade808"/>
    <xsd:import namespace="ac21690e-93b3-4056-bbf5-722935a22e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DateandTime" minOccurs="0"/>
                <xsd:element ref="ns2:MediaServiceObjectDetectorVersions" minOccurs="0"/>
                <xsd:element ref="ns2:AssignmentTitle" minOccurs="0"/>
                <xsd:element ref="ns2:PoPEndData" minOccurs="0"/>
                <xsd:element ref="ns2:Sponsor_x002f_Client" minOccurs="0"/>
                <xsd:element ref="ns2:AssignmentDescription" minOccurs="0"/>
                <xsd:element ref="ns2:KeySkillsRequired" minOccurs="0"/>
                <xsd:element ref="ns2:ClearanceLevelRequired" minOccurs="0"/>
                <xsd:element ref="ns2:Allocation_x0025_" minOccurs="0"/>
                <xsd:element ref="ns2:AssignmentStatu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c1334-7839-47d4-adba-ba353eade8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DateandTime" ma:index="16" nillable="true" ma:displayName="PoP Start Date" ma:description="Note the start date of the assignment for which you need the support.&#10;" ma:format="DateOnly" ma:internalName="DateandTime">
      <xsd:simpleType>
        <xsd:restriction base="dms:DateTim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ssignmentTitle" ma:index="18" nillable="true" ma:displayName="Assignment Title" ma:description="Job title of the role you need to fill." ma:format="Dropdown" ma:internalName="AssignmentTitle">
      <xsd:simpleType>
        <xsd:restriction base="dms:Text">
          <xsd:maxLength value="255"/>
        </xsd:restriction>
      </xsd:simpleType>
    </xsd:element>
    <xsd:element name="PoPEndData" ma:index="19" nillable="true" ma:displayName="PoP End Data" ma:description="Note the end date of the assignment." ma:format="DateOnly" ma:internalName="PoPEndData">
      <xsd:simpleType>
        <xsd:restriction base="dms:DateTime"/>
      </xsd:simpleType>
    </xsd:element>
    <xsd:element name="Sponsor_x002f_Client" ma:index="20" nillable="true" ma:displayName="Sponsor/Client" ma:description="List the sponsor/client that the assignment supports." ma:format="Dropdown" ma:internalName="Sponsor_x002f_Client">
      <xsd:simpleType>
        <xsd:restriction base="dms:Text">
          <xsd:maxLength value="255"/>
        </xsd:restriction>
      </xsd:simpleType>
    </xsd:element>
    <xsd:element name="AssignmentDescription" ma:index="21" nillable="true" ma:displayName="Assignment Role" ma:description="Assignment role need (i.e.: software developer, research analyst, test and evaluator, backend developer)" ma:format="Dropdown" ma:internalName="AssignmentDescription">
      <xsd:simpleType>
        <xsd:restriction base="dms:Text">
          <xsd:maxLength value="255"/>
        </xsd:restriction>
      </xsd:simpleType>
    </xsd:element>
    <xsd:element name="KeySkillsRequired" ma:index="22" nillable="true" ma:displayName="Key Skills Required" ma:description="High Level description of skills needed to support the assignment." ma:format="Dropdown" ma:internalName="KeySkillsRequired">
      <xsd:simpleType>
        <xsd:restriction base="dms:Note">
          <xsd:maxLength value="255"/>
        </xsd:restriction>
      </xsd:simpleType>
    </xsd:element>
    <xsd:element name="ClearanceLevelRequired" ma:index="23" nillable="true" ma:displayName="Clearance Level Required" ma:description="List the clearance level needed to support the assignment." ma:format="Dropdown" ma:internalName="ClearanceLevelRequired">
      <xsd:simpleType>
        <xsd:restriction base="dms:Choice">
          <xsd:enumeration value="No Clearance needed"/>
          <xsd:enumeration value="Secret"/>
          <xsd:enumeration value="Interim TS"/>
          <xsd:enumeration value="Top Secret"/>
          <xsd:enumeration value="TS/SCI"/>
        </xsd:restriction>
      </xsd:simpleType>
    </xsd:element>
    <xsd:element name="Allocation_x0025_" ma:index="24" nillable="true" ma:displayName="Allocation %" ma:decimals="0" ma:description="Percent of allocation needed to support the assignment." ma:format="Dropdown" ma:internalName="Allocation_x0025_" ma:percentage="TRUE">
      <xsd:simpleType>
        <xsd:restriction base="dms:Number"/>
      </xsd:simpleType>
    </xsd:element>
    <xsd:element name="AssignmentStatus" ma:index="25" nillable="true" ma:displayName="Assignment Status" ma:description="Provides a status on the assignment." ma:format="Dropdown" ma:internalName="AssignmentStatus">
      <xsd:simpleType>
        <xsd:restriction base="dms:Choice">
          <xsd:enumeration value="Immediate"/>
          <xsd:enumeration value="Pending Funding"/>
          <xsd:enumeration value="Filled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084dfaf8-4c73-4e7c-bb69-a90465751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21690e-93b3-4056-bbf5-722935a22e55" elementFormDefault="qualified">
    <xsd:import namespace="http://schemas.microsoft.com/office/2006/documentManagement/types"/>
    <xsd:import namespace="http://schemas.microsoft.com/office/infopath/2007/PartnerControls"/>
    <xsd:element name="SharedWithUsers" ma:index="2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1" nillable="true" ma:displayName="Taxonomy Catch All Column" ma:hidden="true" ma:list="{197ff634-4610-423e-a709-2b0f3dd211cf}" ma:internalName="TaxCatchAll" ma:showField="CatchAllData" ma:web="ac21690e-93b3-4056-bbf5-722935a22e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BCD178-F750-4B49-811F-08C70C0FD4D1}">
  <ds:schemaRefs>
    <ds:schemaRef ds:uri="http://purl.org/dc/elements/1.1/"/>
    <ds:schemaRef ds:uri="ac21690e-93b3-4056-bbf5-722935a22e55"/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50cc1334-7839-47d4-adba-ba353eade80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A031C0F-9E9B-498F-BDD9-570551A925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6056B4-7778-4E55-9C60-057F39593AF8}">
  <ds:schemaRefs>
    <ds:schemaRef ds:uri="50cc1334-7839-47d4-adba-ba353eade808"/>
    <ds:schemaRef ds:uri="ac21690e-93b3-4056-bbf5-722935a22e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3c6e78b-37c4-4723-8714-6a0e553c75ea}" enabled="0" method="" siteId="{e3c6e78b-37c4-4723-8714-6a0e553c75e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5124</TotalTime>
  <Words>101</Words>
  <Application>Microsoft Macintosh PowerPoint</Application>
  <PresentationFormat>Widescreen</PresentationFormat>
  <Paragraphs>29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LatoWeb</vt:lpstr>
      <vt:lpstr>Arial</vt:lpstr>
      <vt:lpstr>Calibri</vt:lpstr>
      <vt:lpstr>Office Theme</vt:lpstr>
      <vt:lpstr>Conflict or Commentary?  Comparing Nigerian News Coverage to Boko Haram Conflict Intensity</vt:lpstr>
      <vt:lpstr>Project Overview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Internal-Only Template</dc:title>
  <dc:creator>Kristin Jones</dc:creator>
  <cp:lastModifiedBy>Zachary Einolf</cp:lastModifiedBy>
  <cp:revision>10</cp:revision>
  <dcterms:created xsi:type="dcterms:W3CDTF">2024-05-07T19:58:17Z</dcterms:created>
  <dcterms:modified xsi:type="dcterms:W3CDTF">2025-12-03T20:35:17Z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0x01010014FA2F524F83724ABC926BDEA64A23C6</vt:lpwstr>
  </property>
  <property fmtid="{D5CDD505-2E9C-101B-9397-08002B2CF9AE}" pid="3" name="MediaServiceImageTags">
    <vt:lpwstr/>
  </property>
</Properties>
</file>